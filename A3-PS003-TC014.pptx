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abstract/document/10942186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016003222009346" TargetMode="External"/><Relationship Id="rId2" Type="http://schemas.openxmlformats.org/officeDocument/2006/relationships/hyperlink" Target="https://proceedings.mlr.press/v54/mcmahan17a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45/3703447" TargetMode="External"/><Relationship Id="rId5" Type="http://schemas.openxmlformats.org/officeDocument/2006/relationships/hyperlink" Target="https://dot.ca.gov/programs/traffic-operations/mpr/pems-source" TargetMode="External"/><Relationship Id="rId4" Type="http://schemas.openxmlformats.org/officeDocument/2006/relationships/hyperlink" Target="https://ieeexplore.ieee.org/abstract/document/10942186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6928" y="384048"/>
            <a:ext cx="713232" cy="713232"/>
          </a:xfrm>
          <a:prstGeom prst="ellipse">
            <a:avLst/>
          </a:prstGeom>
          <a:solidFill>
            <a:srgbClr val="14235F"/>
          </a:solidFill>
          <a:ln>
            <a:solidFill>
              <a:srgbClr val="142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603504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AIORI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47088"/>
            <a:ext cx="1097280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rgbClr val="1C31E6"/>
                </a:solidFill>
                <a:latin typeface="Aptos"/>
              </a:rPr>
              <a:t>A3-PS003-TC0</a:t>
            </a:r>
            <a:r>
              <a:rPr lang="en-IN" sz="2700" b="1" i="0" dirty="0">
                <a:solidFill>
                  <a:srgbClr val="1C31E6"/>
                </a:solidFill>
                <a:latin typeface="Aptos"/>
              </a:rPr>
              <a:t>14</a:t>
            </a:r>
            <a:endParaRPr sz="2700" b="1" i="0" dirty="0">
              <a:solidFill>
                <a:srgbClr val="1C31E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2395728"/>
            <a:ext cx="10972800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N" sz="3200" b="1" dirty="0"/>
              <a:t>Federated Traffic-Flow Prediction with Communication-Cost Evaluation</a:t>
            </a:r>
            <a:endParaRPr sz="3200" b="1" i="0" dirty="0">
              <a:solidFill>
                <a:srgbClr val="232A3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5216" y="3703320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579"/>
                </a:solidFill>
                <a:latin typeface="Aptos"/>
              </a:rPr>
              <a:t>Communication-efficient traffic-flow prediction with lightweight model-update safeguards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4480560"/>
            <a:ext cx="3300984" cy="0"/>
          </a:xfrm>
          <a:prstGeom prst="line">
            <a:avLst/>
          </a:prstGeom>
          <a:ln w="38100">
            <a:solidFill>
              <a:srgbClr val="1C3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4736592"/>
            <a:ext cx="77724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500" b="1" dirty="0">
                <a:solidFill>
                  <a:srgbClr val="232A38"/>
                </a:solidFill>
                <a:latin typeface="Aptos"/>
              </a:rPr>
              <a:t>Zoro – Sivakumar R S, </a:t>
            </a:r>
            <a:r>
              <a:rPr lang="en-IN" sz="1500" b="1" dirty="0" err="1">
                <a:solidFill>
                  <a:srgbClr val="232A38"/>
                </a:solidFill>
                <a:latin typeface="Aptos"/>
              </a:rPr>
              <a:t>Diwith</a:t>
            </a:r>
            <a:r>
              <a:rPr lang="en-IN" sz="1500" b="1" dirty="0">
                <a:solidFill>
                  <a:srgbClr val="232A38"/>
                </a:solidFill>
                <a:latin typeface="Aptos"/>
              </a:rPr>
              <a:t> Ram N S, Gowtham Gopal(Faculty) </a:t>
            </a:r>
            <a:endParaRPr sz="1500" b="1" i="0" dirty="0">
              <a:solidFill>
                <a:srgbClr val="232A3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5138928"/>
            <a:ext cx="7772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579"/>
                </a:solidFill>
                <a:latin typeface="Aptos"/>
              </a:rPr>
              <a:t>AIORI Hackathon 3  |  13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Proposal presentation • Planned evaluation, not yet measured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8240" y="109728"/>
            <a:ext cx="2971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31E6"/>
                </a:solidFill>
                <a:latin typeface="Aptos"/>
              </a:rPr>
              <a:t>AIORI 3   |  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1109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31E6"/>
                </a:solidFill>
                <a:latin typeface="Aptos"/>
              </a:rPr>
              <a:t>Problem Description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82528" cy="0"/>
          </a:xfrm>
          <a:prstGeom prst="line">
            <a:avLst/>
          </a:prstGeom>
          <a:ln w="1016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65392"/>
            <a:ext cx="89611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A3-PS003-TC01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4</a:t>
            </a:r>
            <a:r>
              <a:rPr sz="800" b="0" i="0" dirty="0">
                <a:solidFill>
                  <a:srgbClr val="1C31E6"/>
                </a:solidFill>
                <a:latin typeface="Aptos"/>
              </a:rPr>
              <a:t>  •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25296"/>
            <a:ext cx="10881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32A38"/>
                </a:solidFill>
                <a:latin typeface="Aptos"/>
              </a:rPr>
              <a:t>Goal: forecast traffic while controlling federated communication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6720840" cy="406908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A38"/>
                </a:solidFill>
                <a:latin typeface="Aptos"/>
              </a:defRPr>
            </a:pPr>
            <a:r>
              <a:t>•  Traffic prediction depends on time-varying patterns that can differ across sensors or intersections.</a:t>
            </a:r>
          </a:p>
          <a:p>
            <a:pPr>
              <a:spcAft>
                <a:spcPts val="1100"/>
              </a:spcAft>
              <a:defRPr sz="1600">
                <a:solidFill>
                  <a:srgbClr val="232A38"/>
                </a:solidFill>
                <a:latin typeface="Aptos"/>
              </a:defRPr>
            </a:pPr>
            <a:r>
              <a:t>•  Centralizing raw observations may be undesirable; federated learning lets clients train locally.</a:t>
            </a:r>
          </a:p>
          <a:p>
            <a:pPr>
              <a:spcAft>
                <a:spcPts val="1100"/>
              </a:spcAft>
              <a:defRPr sz="1600">
                <a:solidFill>
                  <a:srgbClr val="232A38"/>
                </a:solidFill>
                <a:latin typeface="Aptos"/>
              </a:defRPr>
            </a:pPr>
            <a:r>
              <a:t>•  Standard FedAvg still exchanges model parameters repeatedly, consuming bandwidth.</a:t>
            </a:r>
          </a:p>
          <a:p>
            <a:pPr>
              <a:spcAft>
                <a:spcPts val="1100"/>
              </a:spcAft>
              <a:defRPr sz="1600">
                <a:solidFill>
                  <a:srgbClr val="232A38"/>
                </a:solidFill>
                <a:latin typeface="Aptos"/>
              </a:defRPr>
            </a:pPr>
            <a:r>
              <a:t>•  A fixed communication schedule may not react promptly to meaningful traffic changes.</a:t>
            </a:r>
          </a:p>
          <a:p>
            <a:pPr>
              <a:spcAft>
                <a:spcPts val="1100"/>
              </a:spcAft>
              <a:defRPr sz="1600">
                <a:solidFill>
                  <a:srgbClr val="232A38"/>
                </a:solidFill>
                <a:latin typeface="Aptos"/>
              </a:defRPr>
            </a:pPr>
            <a:r>
              <a:t>•  Client updates can be malformed, stale, or unusually large; federated learning alone is not a security guarantee.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536192"/>
            <a:ext cx="36576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26679" y="1536192"/>
            <a:ext cx="91440" cy="1207008"/>
          </a:xfrm>
          <a:prstGeom prst="rect">
            <a:avLst/>
          </a:prstGeom>
          <a:solidFill>
            <a:srgbClr val="1C31E6"/>
          </a:solidFill>
          <a:ln>
            <a:solidFill>
              <a:srgbClr val="1C3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27848" y="1682495"/>
            <a:ext cx="3291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Our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039112"/>
            <a:ext cx="3273552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A38"/>
                </a:solidFill>
                <a:latin typeface="Aptos"/>
              </a:rPr>
              <a:t>Can traffic-aware update scheduling improve the accuracy–communication trade-off under a fixed byte budget?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07792"/>
            <a:ext cx="36576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2907792"/>
            <a:ext cx="91440" cy="1207008"/>
          </a:xfrm>
          <a:prstGeom prst="rect">
            <a:avLst/>
          </a:prstGeom>
          <a:solidFill>
            <a:srgbClr val="2A97DC"/>
          </a:solidFill>
          <a:ln>
            <a:solidFill>
              <a:srgbClr val="2A9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3054096"/>
            <a:ext cx="3291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Our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410712"/>
            <a:ext cx="3273552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A38"/>
                </a:solidFill>
                <a:latin typeface="Aptos"/>
              </a:rPr>
              <a:t>FedAvg forecasting + event-aware communication + a lightweight update-validation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279392"/>
            <a:ext cx="36576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26679" y="4279392"/>
            <a:ext cx="91440" cy="1207008"/>
          </a:xfrm>
          <a:prstGeom prst="rect">
            <a:avLst/>
          </a:prstGeom>
          <a:solidFill>
            <a:srgbClr val="1D8561"/>
          </a:solidFill>
          <a:ln>
            <a:solidFill>
              <a:srgbClr val="1D8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4425696"/>
            <a:ext cx="3291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Success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4782312"/>
            <a:ext cx="3273552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A38"/>
                </a:solidFill>
                <a:latin typeface="Aptos"/>
              </a:rPr>
              <a:t>Measured comparison against baselines—not an assumed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8240" y="109728"/>
            <a:ext cx="2971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31E6"/>
                </a:solidFill>
                <a:latin typeface="Aptos"/>
              </a:rPr>
              <a:t>AIORI 3   |  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1109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31E6"/>
                </a:solidFill>
                <a:latin typeface="Aptos"/>
              </a:rPr>
              <a:t>Background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82528" cy="0"/>
          </a:xfrm>
          <a:prstGeom prst="line">
            <a:avLst/>
          </a:prstGeom>
          <a:ln w="1016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65392"/>
            <a:ext cx="89611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14</a:t>
            </a:r>
            <a:r>
              <a:rPr sz="800" b="0" i="0" dirty="0">
                <a:solidFill>
                  <a:srgbClr val="1C31E6"/>
                </a:solidFill>
                <a:latin typeface="Aptos"/>
              </a:rPr>
              <a:t>  •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3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98448"/>
            <a:ext cx="91440" cy="1508760"/>
          </a:xfrm>
          <a:prstGeom prst="rect">
            <a:avLst/>
          </a:prstGeom>
          <a:solidFill>
            <a:srgbClr val="1C31E6"/>
          </a:solidFill>
          <a:ln>
            <a:solidFill>
              <a:srgbClr val="1C3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44751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Traffic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3090672" cy="8869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A38"/>
                </a:solidFill>
                <a:latin typeface="Aptos"/>
              </a:rPr>
              <a:t>A compact model learns from historical measurements to predict a future traffic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98448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298448"/>
            <a:ext cx="91440" cy="1508760"/>
          </a:xfrm>
          <a:prstGeom prst="rect">
            <a:avLst/>
          </a:prstGeom>
          <a:solidFill>
            <a:srgbClr val="2A97DC"/>
          </a:solidFill>
          <a:ln>
            <a:solidFill>
              <a:srgbClr val="2A9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444751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Federated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01368"/>
            <a:ext cx="3090672" cy="8869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A38"/>
                </a:solidFill>
                <a:latin typeface="Aptos"/>
              </a:rPr>
              <a:t>Clients train locally; the server aggregates model updates rather than raw training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298448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298448"/>
            <a:ext cx="91440" cy="1508760"/>
          </a:xfrm>
          <a:prstGeom prst="rect">
            <a:avLst/>
          </a:prstGeom>
          <a:solidFill>
            <a:srgbClr val="1D8561"/>
          </a:solidFill>
          <a:ln>
            <a:solidFill>
              <a:srgbClr val="1D8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444751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Communication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801368"/>
            <a:ext cx="3090672" cy="8869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A38"/>
                </a:solidFill>
                <a:latin typeface="Aptos"/>
              </a:rPr>
              <a:t>Repeated uploads and downloads can dominate the cost of distributed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46120"/>
            <a:ext cx="5212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235F"/>
                </a:solidFill>
                <a:latin typeface="Aptos"/>
              </a:rPr>
              <a:t>Core baseline: Federated Averaging (FedAvg)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75887"/>
            <a:ext cx="5120640" cy="201168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8"/>
                </a:solidFill>
                <a:latin typeface="Aptos"/>
              </a:defRPr>
            </a:pPr>
            <a:r>
              <a:t>•  Server distributes the current global model.</a:t>
            </a:r>
          </a:p>
          <a:p>
            <a:pPr>
              <a:spcAft>
                <a:spcPts val="800"/>
              </a:spcAft>
              <a:defRPr sz="1500">
                <a:solidFill>
                  <a:srgbClr val="232A38"/>
                </a:solidFill>
                <a:latin typeface="Aptos"/>
              </a:defRPr>
            </a:pPr>
            <a:r>
              <a:t>•  Each client performs local training.</a:t>
            </a:r>
          </a:p>
          <a:p>
            <a:pPr>
              <a:spcAft>
                <a:spcPts val="800"/>
              </a:spcAft>
              <a:defRPr sz="1500">
                <a:solidFill>
                  <a:srgbClr val="232A38"/>
                </a:solidFill>
                <a:latin typeface="Aptos"/>
              </a:defRPr>
            </a:pPr>
            <a:r>
              <a:t>•  Server aggregates accepted client updates.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246120"/>
            <a:ext cx="5212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235F"/>
                </a:solidFill>
                <a:latin typeface="Aptos"/>
              </a:rPr>
              <a:t>Our extension: traffic-aware scheduling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675887"/>
            <a:ext cx="5257800" cy="201168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8"/>
                </a:solidFill>
                <a:latin typeface="Aptos"/>
              </a:defRPr>
            </a:pPr>
            <a:r>
              <a:t>•  Use only currently available local history to calculate a traffic-change score.</a:t>
            </a:r>
          </a:p>
          <a:p>
            <a:pPr>
              <a:spcAft>
                <a:spcPts val="800"/>
              </a:spcAft>
              <a:defRPr sz="1500">
                <a:solidFill>
                  <a:srgbClr val="232A38"/>
                </a:solidFill>
                <a:latin typeface="Aptos"/>
              </a:defRPr>
            </a:pPr>
            <a:r>
              <a:t>•  Permit earlier updates when the score crosses a validation-tuned threshold.</a:t>
            </a:r>
          </a:p>
          <a:p>
            <a:pPr>
              <a:spcAft>
                <a:spcPts val="800"/>
              </a:spcAft>
              <a:defRPr sz="1500">
                <a:solidFill>
                  <a:srgbClr val="232A38"/>
                </a:solidFill>
                <a:latin typeface="Aptos"/>
              </a:defRPr>
            </a:pPr>
            <a:r>
              <a:t>•  Enforce a maximum interval and a strict upload/download byte budget.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598932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B6579"/>
                </a:solidFill>
                <a:latin typeface="Aptos"/>
              </a:rPr>
              <a:t>Scope: offline simulation with 3–5 virtual clients; no live traffic control or formal privacy guarantee is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8240" y="109728"/>
            <a:ext cx="2971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31E6"/>
                </a:solidFill>
                <a:latin typeface="Aptos"/>
              </a:rPr>
              <a:t>AIORI 3   |   Literature &amp; RFC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1109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31E6"/>
                </a:solidFill>
                <a:latin typeface="Aptos"/>
              </a:rPr>
              <a:t>Literature &amp; RFC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82528" cy="0"/>
          </a:xfrm>
          <a:prstGeom prst="line">
            <a:avLst/>
          </a:prstGeom>
          <a:ln w="1016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65392"/>
            <a:ext cx="89611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14</a:t>
            </a:r>
            <a:r>
              <a:rPr sz="800" b="0" i="0" dirty="0">
                <a:solidFill>
                  <a:srgbClr val="1C31E6"/>
                </a:solidFill>
                <a:latin typeface="Aptos"/>
              </a:rPr>
              <a:t>  •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4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61872"/>
            <a:ext cx="53492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261872"/>
            <a:ext cx="91440" cy="1444752"/>
          </a:xfrm>
          <a:prstGeom prst="rect">
            <a:avLst/>
          </a:prstGeom>
          <a:solidFill>
            <a:srgbClr val="1C31E6"/>
          </a:solidFill>
          <a:ln>
            <a:solidFill>
              <a:srgbClr val="1C3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408175"/>
            <a:ext cx="498347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[1] FedAvg — McMahan et al. (2017)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764792"/>
            <a:ext cx="496519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Establishes communication-efficient learning from decentralized data through iterative local training and server aggregation.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61872"/>
            <a:ext cx="53492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261872"/>
            <a:ext cx="91440" cy="1444752"/>
          </a:xfrm>
          <a:prstGeom prst="rect">
            <a:avLst/>
          </a:prstGeom>
          <a:solidFill>
            <a:srgbClr val="2A97DC"/>
          </a:solidFill>
          <a:ln>
            <a:solidFill>
              <a:srgbClr val="2A9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08175"/>
            <a:ext cx="498347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[2] Communication-efficient FL survey 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64792"/>
            <a:ext cx="496519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Reviews communication bottlenecks and techniques such as reducing, compressing or scheduling model exchanges.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07792"/>
            <a:ext cx="53492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2907792"/>
            <a:ext cx="91440" cy="1444752"/>
          </a:xfrm>
          <a:prstGeom prst="rect">
            <a:avLst/>
          </a:prstGeom>
          <a:solidFill>
            <a:srgbClr val="1D8561"/>
          </a:solidFill>
          <a:ln>
            <a:solidFill>
              <a:srgbClr val="1D8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054096"/>
            <a:ext cx="498347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[3] Traffic data — California PeMS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410712"/>
            <a:ext cx="496519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Public traffic measurements can support reproducible forecasting experiments; final dataset, target and license/access details must be confirmed.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907792"/>
            <a:ext cx="53492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2907792"/>
            <a:ext cx="91440" cy="1444752"/>
          </a:xfrm>
          <a:prstGeom prst="rect">
            <a:avLst/>
          </a:prstGeom>
          <a:solidFill>
            <a:srgbClr val="C37E1A"/>
          </a:solidFill>
          <a:ln>
            <a:solidFill>
              <a:srgbClr val="C37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054096"/>
            <a:ext cx="498347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235F"/>
                </a:solidFill>
                <a:latin typeface="Aptos"/>
              </a:rPr>
              <a:t>[3] IEEE: Communication-Efficient Personalized Federated Learning for Traffic Flow Prediction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10712"/>
            <a:ext cx="496519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A38"/>
                </a:solidFill>
                <a:latin typeface="Aptos"/>
              </a:rPr>
              <a:t>Studies pruning-based personalization and neighbor aggregation to reduce communication cost in federated traffic-flow prediction. Our V2 instead evaluates traffic-change-triggered updates under an explicit byte budget, with lightweight update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00600"/>
            <a:ext cx="108813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32A38"/>
                </a:solidFill>
                <a:latin typeface="Aptos"/>
              </a:rPr>
              <a:t>Research positioning: adaptive and event-triggered communication are existing research directions. Our contribution is a reproducible evaluation of a specific traffic-change trigger combined with a hard communication budget and lightweight update checks—not a claim that these individual ideas are new.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0740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C31E6"/>
                </a:solidFill>
                <a:latin typeface="Aptos"/>
                <a:hlinkClick r:id="rId2"/>
              </a:rPr>
              <a:t>IEEE paper: https://ieeexplore.ieee.org/abstract/document/10942186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8240" y="109728"/>
            <a:ext cx="2971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31E6"/>
                </a:solidFill>
                <a:latin typeface="Aptos"/>
              </a:rPr>
              <a:t>AIORI 3   |  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1109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31E6"/>
                </a:solidFill>
                <a:latin typeface="Aptos"/>
              </a:rPr>
              <a:t>Proposed 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82528" cy="0"/>
          </a:xfrm>
          <a:prstGeom prst="line">
            <a:avLst/>
          </a:prstGeom>
          <a:ln w="1016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65392"/>
            <a:ext cx="89611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A3-PS003-TC01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4</a:t>
            </a:r>
            <a:r>
              <a:rPr sz="800" b="0" i="0" dirty="0">
                <a:solidFill>
                  <a:srgbClr val="1C31E6"/>
                </a:solidFill>
                <a:latin typeface="Aptos"/>
              </a:rPr>
              <a:t>  •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235F"/>
                </a:solidFill>
                <a:latin typeface="Aptos"/>
              </a:rPr>
              <a:t>End-to-end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700784" cy="1115568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2039112"/>
            <a:ext cx="155448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5F"/>
                </a:solidFill>
                <a:latin typeface="Aptos"/>
              </a:rPr>
              <a:t>Public traffic
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78608"/>
            <a:ext cx="160934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579"/>
                </a:solidFill>
                <a:latin typeface="Aptos"/>
              </a:rPr>
              <a:t>Chronological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874519"/>
            <a:ext cx="1700784" cy="1115568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2039112"/>
            <a:ext cx="155448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5F"/>
                </a:solidFill>
                <a:latin typeface="Aptos"/>
              </a:rPr>
              <a:t>Virtual clients
(3–5)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578608"/>
            <a:ext cx="160934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579"/>
                </a:solidFill>
                <a:latin typeface="Aptos"/>
              </a:rPr>
              <a:t>IID / non-IID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1874519"/>
            <a:ext cx="1700784" cy="1115568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039112"/>
            <a:ext cx="155448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5F"/>
                </a:solidFill>
                <a:latin typeface="Aptos"/>
              </a:rPr>
              <a:t>Local model
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578608"/>
            <a:ext cx="160934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579"/>
                </a:solidFill>
                <a:latin typeface="Aptos"/>
              </a:rPr>
              <a:t>Compact predictor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8" y="1874519"/>
            <a:ext cx="1700784" cy="1115568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2039112"/>
            <a:ext cx="155448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5F"/>
                </a:solidFill>
                <a:latin typeface="Aptos"/>
              </a:rPr>
              <a:t>Event + security
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2578608"/>
            <a:ext cx="160934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579"/>
                </a:solidFill>
                <a:latin typeface="Aptos"/>
              </a:rPr>
              <a:t>Trigger / validate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8" y="1874519"/>
            <a:ext cx="1700784" cy="1115568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039112"/>
            <a:ext cx="155448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5F"/>
                </a:solidFill>
                <a:latin typeface="Aptos"/>
              </a:rPr>
              <a:t>Budget gate +
FedAvg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088" y="2578608"/>
            <a:ext cx="160934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579"/>
                </a:solidFill>
                <a:latin typeface="Aptos"/>
              </a:rPr>
              <a:t>Aggregate updates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23160" y="2432304"/>
            <a:ext cx="420624" cy="0"/>
          </a:xfrm>
          <a:prstGeom prst="line">
            <a:avLst/>
          </a:prstGeom>
          <a:ln w="2540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09160" y="2432304"/>
            <a:ext cx="420624" cy="0"/>
          </a:xfrm>
          <a:prstGeom prst="line">
            <a:avLst/>
          </a:prstGeom>
          <a:ln w="2540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5160" y="2432304"/>
            <a:ext cx="420624" cy="0"/>
          </a:xfrm>
          <a:prstGeom prst="line">
            <a:avLst/>
          </a:prstGeom>
          <a:ln w="2540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81160" y="2432304"/>
            <a:ext cx="420624" cy="0"/>
          </a:xfrm>
          <a:prstGeom prst="line">
            <a:avLst/>
          </a:prstGeom>
          <a:ln w="2540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" y="3456432"/>
            <a:ext cx="349300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3456432"/>
            <a:ext cx="91440" cy="1417320"/>
          </a:xfrm>
          <a:prstGeom prst="rect">
            <a:avLst/>
          </a:prstGeom>
          <a:solidFill>
            <a:srgbClr val="1C31E6"/>
          </a:solidFill>
          <a:ln>
            <a:solidFill>
              <a:srgbClr val="1C3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" y="3602736"/>
            <a:ext cx="31272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Prediction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959352"/>
            <a:ext cx="3108960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Use a compact GRU or another lightweight model. Keep architecture identical for FedAvg and V2 comparisons.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2544" y="3456432"/>
            <a:ext cx="349300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52544" y="3456432"/>
            <a:ext cx="91440" cy="1417320"/>
          </a:xfrm>
          <a:prstGeom prst="rect">
            <a:avLst/>
          </a:prstGeom>
          <a:solidFill>
            <a:srgbClr val="2A97DC"/>
          </a:solidFill>
          <a:ln>
            <a:solidFill>
              <a:srgbClr val="2A9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53712" y="3602736"/>
            <a:ext cx="31272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Event-aware 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959352"/>
            <a:ext cx="3108960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Compute a traffic-change score from recent vs. previous local history; threshold tuned on validation data only.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456432"/>
            <a:ext cx="349300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46720" y="3456432"/>
            <a:ext cx="91440" cy="1417320"/>
          </a:xfrm>
          <a:prstGeom prst="rect">
            <a:avLst/>
          </a:prstGeom>
          <a:solidFill>
            <a:srgbClr val="1D8561"/>
          </a:solidFill>
          <a:ln>
            <a:solidFill>
              <a:srgbClr val="1D8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47888" y="3602736"/>
            <a:ext cx="31272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Security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3959352"/>
            <a:ext cx="3108960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Validate shapes and finite values, reject stale/duplicate messages, and clip update norm before aggregation.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5285232"/>
            <a:ext cx="10789920" cy="6035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32A38"/>
                </a:solidFill>
                <a:latin typeface="Aptos"/>
              </a:rPr>
              <a:t>Budget rule: count both uploads and downloads. If the next exchange exceeds the remaining allowance, defer or stop it and record the event; do not treat model broadcasts as free.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8240" y="109728"/>
            <a:ext cx="2971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31E6"/>
                </a:solidFill>
                <a:latin typeface="Aptos"/>
              </a:rPr>
              <a:t>AIORI 3   |   Solution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1109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31E6"/>
                </a:solidFill>
                <a:latin typeface="Aptos"/>
              </a:rPr>
              <a:t>Optimization Proposed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82528" cy="0"/>
          </a:xfrm>
          <a:prstGeom prst="line">
            <a:avLst/>
          </a:prstGeom>
          <a:ln w="1016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65392"/>
            <a:ext cx="89611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A3-PS003-TC01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4</a:t>
            </a:r>
            <a:r>
              <a:rPr sz="800" b="0" i="0" dirty="0">
                <a:solidFill>
                  <a:srgbClr val="1C31E6"/>
                </a:solidFill>
                <a:latin typeface="Aptos"/>
              </a:rPr>
              <a:t>  •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6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53312"/>
          <a:ext cx="1106424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 marL="73152" marR="73152" marB="36576" anchor="ctr">
                    <a:solidFill>
                      <a:srgbClr val="1423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Before: standard baseline</a:t>
                      </a:r>
                    </a:p>
                  </a:txBody>
                  <a:tcPr marL="73152" marR="73152" marB="36576" anchor="ctr">
                    <a:solidFill>
                      <a:srgbClr val="1423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After: proposed V2</a:t>
                      </a:r>
                    </a:p>
                  </a:txBody>
                  <a:tcPr marL="73152" marR="73152" marB="36576" anchor="ctr">
                    <a:solidFill>
                      <a:srgbClr val="1423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we verify</a:t>
                      </a:r>
                    </a:p>
                  </a:txBody>
                  <a:tcPr marL="73152" marR="73152" marB="36576" anchor="ctr">
                    <a:solidFill>
                      <a:srgbClr val="1423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Communication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Fixed / configured round schedule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Traffic-aware update eligibility + hard byte budget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Total upload + download bytes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Traffic changes</a:t>
                      </a:r>
                    </a:p>
                  </a:txBody>
                  <a:tcPr marL="73152" marR="73152" marB="36576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No traffic-specific trigger by default</a:t>
                      </a:r>
                    </a:p>
                  </a:txBody>
                  <a:tcPr marL="73152" marR="73152" marB="36576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Earlier update eligibility after significant local change</a:t>
                      </a:r>
                    </a:p>
                  </a:txBody>
                  <a:tcPr marL="73152" marR="73152" marB="36576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Error around changing periods; no test leakage</a:t>
                      </a:r>
                    </a:p>
                  </a:txBody>
                  <a:tcPr marL="73152" marR="73152" marB="36576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Update safety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Basic FedAvg may accept submitted updates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Shape/value checks, stale-message rejection, norm clipping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Attack simulations + rejection counts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Aggregation</a:t>
                      </a:r>
                    </a:p>
                  </a:txBody>
                  <a:tcPr marL="73152" marR="73152" marB="36576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FedAvg over submitted client updates</a:t>
                      </a:r>
                    </a:p>
                  </a:txBody>
                  <a:tcPr marL="73152" marR="73152" marB="36576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FedAvg over validated, budget-eligible updates</a:t>
                      </a:r>
                    </a:p>
                  </a:txBody>
                  <a:tcPr marL="73152" marR="73152" marB="36576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Same architecture and client splits</a:t>
                      </a:r>
                    </a:p>
                  </a:txBody>
                  <a:tcPr marL="73152" marR="73152" marB="36576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Evaluation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Accuracy / rounds may be reported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MAE, RMSE, bytes, convergence, runtime across 3 seeds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8"/>
                          </a:solidFill>
                          <a:latin typeface="Aptos"/>
                        </a:defRPr>
                      </a:pPr>
                      <a:r>
                        <a:t>IID and non-IID cases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5989320"/>
            <a:ext cx="10881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B6579"/>
                </a:solidFill>
                <a:latin typeface="Aptos"/>
              </a:rPr>
              <a:t>Expected, not guaranteed: reduce avoidable communication while retaining useful predictive performance and rejecting simple malformed or replayed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8240" y="109728"/>
            <a:ext cx="2971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31E6"/>
                </a:solidFill>
                <a:latin typeface="Aptos"/>
              </a:rPr>
              <a:t>AIORI 3   |   Architecture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1109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31E6"/>
                </a:solidFill>
                <a:latin typeface="Aptos"/>
              </a:rPr>
              <a:t>Solution Architecture &amp;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82528" cy="0"/>
          </a:xfrm>
          <a:prstGeom prst="line">
            <a:avLst/>
          </a:prstGeom>
          <a:ln w="1016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65392"/>
            <a:ext cx="89611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A3-PS003-TC01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4</a:t>
            </a:r>
            <a:r>
              <a:rPr sz="800" b="0" i="0" dirty="0">
                <a:solidFill>
                  <a:srgbClr val="1C31E6"/>
                </a:solidFill>
                <a:latin typeface="Aptos"/>
              </a:rPr>
              <a:t>  •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7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126187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14235F"/>
          </a:solidFill>
          <a:ln w="12700">
            <a:solidFill>
              <a:srgbClr val="142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07408" y="1444752"/>
            <a:ext cx="338328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Federated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47088"/>
            <a:ext cx="3429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Global model • FedAvg • byte accounting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886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404164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Virtual Client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07408"/>
            <a:ext cx="312724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32A38"/>
                </a:solidFill>
                <a:latin typeface="Aptos"/>
              </a:rPr>
              <a:t>Local traffic history
Train model → event score → validate update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368296" y="2103120"/>
            <a:ext cx="3730752" cy="1764792"/>
          </a:xfrm>
          <a:prstGeom prst="line">
            <a:avLst/>
          </a:prstGeom>
          <a:ln w="1905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61688" y="3886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1416" y="404164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Virtual Client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4407408"/>
            <a:ext cx="312724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32A38"/>
                </a:solidFill>
                <a:latin typeface="Aptos"/>
              </a:rPr>
              <a:t>Local traffic history
Train model → event score → validate update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71616" y="2103120"/>
            <a:ext cx="27432" cy="1764792"/>
          </a:xfrm>
          <a:prstGeom prst="line">
            <a:avLst/>
          </a:prstGeom>
          <a:ln w="1905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65008" y="3886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74736" y="404164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Virtual Client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4407408"/>
            <a:ext cx="3127248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32A38"/>
                </a:solidFill>
                <a:latin typeface="Aptos"/>
              </a:rPr>
              <a:t>Local traffic history
Train model → event score → validate update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6099048" y="2103120"/>
            <a:ext cx="3675888" cy="1764792"/>
          </a:xfrm>
          <a:prstGeom prst="line">
            <a:avLst/>
          </a:prstGeom>
          <a:ln w="1905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8368" y="1353312"/>
            <a:ext cx="2468880" cy="932688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1508760"/>
            <a:ext cx="2231136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5F"/>
                </a:solidFill>
                <a:latin typeface="Aptos"/>
              </a:rPr>
              <a:t>Public dataset
chronological split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20240" y="2331720"/>
            <a:ext cx="0" cy="1490471"/>
          </a:xfrm>
          <a:prstGeom prst="line">
            <a:avLst/>
          </a:prstGeom>
          <a:ln w="17780">
            <a:solidFill>
              <a:srgbClr val="5B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0" y="1353312"/>
            <a:ext cx="3246120" cy="932688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57616" y="1508760"/>
            <a:ext cx="299923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5F"/>
                </a:solidFill>
                <a:latin typeface="Aptos"/>
              </a:rPr>
              <a:t>Budget controller
+ update security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96712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32A38"/>
                </a:solidFill>
                <a:latin typeface="Aptos"/>
              </a:rPr>
              <a:t>Server accepts only eligible updates; local raw training data remains at each client. This reduces raw-data centralization but is not a formal privacy guarantee.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8240" y="109728"/>
            <a:ext cx="2971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31E6"/>
                </a:solidFill>
                <a:latin typeface="Aptos"/>
              </a:rPr>
              <a:t>AIORI 3   |   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1109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31E6"/>
                </a:solidFill>
                <a:latin typeface="Aptos"/>
              </a:rPr>
              <a:t>Data Flow Diagram (DFD)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82528" cy="0"/>
          </a:xfrm>
          <a:prstGeom prst="line">
            <a:avLst/>
          </a:prstGeom>
          <a:ln w="1016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65392"/>
            <a:ext cx="89611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A3-PS003-TC01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4</a:t>
            </a:r>
            <a:r>
              <a:rPr sz="800" b="0" i="0" dirty="0">
                <a:solidFill>
                  <a:srgbClr val="1C31E6"/>
                </a:solidFill>
                <a:latin typeface="Aptos"/>
              </a:rPr>
              <a:t>  •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8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27048"/>
            <a:ext cx="1911095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35F"/>
                </a:solidFill>
                <a:latin typeface="Aptos"/>
              </a:rPr>
              <a:t>1. Dataset 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9656"/>
            <a:ext cx="187451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32A38"/>
                </a:solidFill>
                <a:latin typeface="Aptos"/>
              </a:rPr>
              <a:t>Sort by time; split train/val/test; normalize using train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4173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27832" y="1527048"/>
            <a:ext cx="1911095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35F"/>
                </a:solidFill>
                <a:latin typeface="Aptos"/>
              </a:rPr>
              <a:t>2. Client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819656"/>
            <a:ext cx="187451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32A38"/>
                </a:solidFill>
                <a:latin typeface="Aptos"/>
              </a:rPr>
              <a:t>Assign sensors / time series to 3–5 virtual 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4173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96712" y="1527048"/>
            <a:ext cx="1911095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35F"/>
                </a:solidFill>
                <a:latin typeface="Aptos"/>
              </a:rPr>
              <a:t>3. Local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819656"/>
            <a:ext cx="187451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32A38"/>
                </a:solidFill>
                <a:latin typeface="Aptos"/>
              </a:rPr>
              <a:t>Train on local historical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1527048"/>
            <a:ext cx="2596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35F"/>
                </a:solidFill>
                <a:latin typeface="Aptos"/>
              </a:rPr>
              <a:t>4. Event + security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819656"/>
            <a:ext cx="2560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32A38"/>
                </a:solidFill>
                <a:latin typeface="Aptos"/>
              </a:rPr>
              <a:t>Score change; validate update; check budget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79776" y="1874519"/>
            <a:ext cx="320040" cy="0"/>
          </a:xfrm>
          <a:prstGeom prst="line">
            <a:avLst/>
          </a:prstGeom>
          <a:ln w="2032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48656" y="1874519"/>
            <a:ext cx="320040" cy="0"/>
          </a:xfrm>
          <a:prstGeom prst="line">
            <a:avLst/>
          </a:prstGeom>
          <a:ln w="2032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17536" y="1874519"/>
            <a:ext cx="320039" cy="0"/>
          </a:xfrm>
          <a:prstGeom prst="line">
            <a:avLst/>
          </a:prstGeom>
          <a:ln w="2032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64040" y="2359152"/>
            <a:ext cx="0" cy="521208"/>
          </a:xfrm>
          <a:prstGeom prst="line">
            <a:avLst/>
          </a:prstGeom>
          <a:ln w="2032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69480" y="2907792"/>
            <a:ext cx="4389120" cy="822960"/>
          </a:xfrm>
          <a:prstGeom prst="roundRect">
            <a:avLst>
              <a:gd name="adj" fmla="val 12000"/>
            </a:avLst>
          </a:prstGeom>
          <a:solidFill>
            <a:srgbClr val="14235F"/>
          </a:solidFill>
          <a:ln w="12700">
            <a:solidFill>
              <a:srgbClr val="142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24927" y="3072384"/>
            <a:ext cx="4078224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5. Server FedAvg aggregation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382512" y="3319272"/>
            <a:ext cx="859536" cy="0"/>
          </a:xfrm>
          <a:prstGeom prst="line">
            <a:avLst/>
          </a:prstGeom>
          <a:ln w="2032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83280" y="2907792"/>
            <a:ext cx="2880360" cy="82296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20440" y="3072384"/>
            <a:ext cx="26060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5F"/>
                </a:solidFill>
                <a:latin typeface="Aptos"/>
              </a:rPr>
              <a:t>6. Updated global 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18888" y="3749039"/>
            <a:ext cx="0" cy="548641"/>
          </a:xfrm>
          <a:prstGeom prst="line">
            <a:avLst/>
          </a:prstGeom>
          <a:ln w="20320">
            <a:solidFill>
              <a:srgbClr val="2A9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83280" y="4315968"/>
            <a:ext cx="2880360" cy="841248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9584" y="4489704"/>
            <a:ext cx="258775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35F"/>
                </a:solidFill>
                <a:latin typeface="Aptos"/>
              </a:rPr>
              <a:t>Broadcast to eligible clients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315968"/>
            <a:ext cx="23317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3232" y="4315968"/>
            <a:ext cx="91440" cy="1143000"/>
          </a:xfrm>
          <a:prstGeom prst="rect">
            <a:avLst/>
          </a:prstGeom>
          <a:solidFill>
            <a:srgbClr val="1D8561"/>
          </a:solidFill>
          <a:ln>
            <a:solidFill>
              <a:srgbClr val="1D8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462272"/>
            <a:ext cx="1965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Evaluation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18888"/>
            <a:ext cx="1947672" cy="5212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A38"/>
                </a:solidFill>
                <a:latin typeface="Aptos"/>
              </a:rPr>
              <a:t>MAE • RMSE • bytes • rounds • runtime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072384" y="4736592"/>
            <a:ext cx="237744" cy="0"/>
          </a:xfrm>
          <a:prstGeom prst="line">
            <a:avLst/>
          </a:prstGeom>
          <a:ln w="17780">
            <a:solidFill>
              <a:srgbClr val="1D85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69480" y="4590288"/>
            <a:ext cx="43891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32A38"/>
                </a:solidFill>
                <a:latin typeface="Aptos"/>
              </a:rPr>
              <a:t>Repeat until stopping condition or byte budget is reached. Record deferred updates and rejected messages.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8240" y="109728"/>
            <a:ext cx="2971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31E6"/>
                </a:solidFill>
                <a:latin typeface="Aptos"/>
              </a:rPr>
              <a:t>AIORI 3   |   Deployment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1109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31E6"/>
                </a:solidFill>
                <a:latin typeface="Aptos"/>
              </a:rPr>
              <a:t>Deployment Timeline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82528" cy="0"/>
          </a:xfrm>
          <a:prstGeom prst="line">
            <a:avLst/>
          </a:prstGeom>
          <a:ln w="1016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65392"/>
            <a:ext cx="89611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A3-PS003-TC01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4</a:t>
            </a:r>
            <a:r>
              <a:rPr sz="800" b="0" i="0" dirty="0">
                <a:solidFill>
                  <a:srgbClr val="1C31E6"/>
                </a:solidFill>
                <a:latin typeface="Aptos"/>
              </a:rPr>
              <a:t>  •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9 / 11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307592"/>
            <a:ext cx="438912" cy="438912"/>
          </a:xfrm>
          <a:prstGeom prst="ellipse">
            <a:avLst/>
          </a:prstGeom>
          <a:solidFill>
            <a:srgbClr val="1C31E6"/>
          </a:solidFill>
          <a:ln>
            <a:solidFill>
              <a:srgbClr val="1C3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89888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261872"/>
            <a:ext cx="1965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Dataset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261872"/>
            <a:ext cx="800100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Select public dataset; inspect target, missingness and license; chronological split.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96696" y="1746504"/>
            <a:ext cx="0" cy="237744"/>
          </a:xfrm>
          <a:prstGeom prst="line">
            <a:avLst/>
          </a:prstGeom>
          <a:ln w="1524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77240" y="2112263"/>
            <a:ext cx="438912" cy="438912"/>
          </a:xfrm>
          <a:prstGeom prst="ellipse">
            <a:avLst/>
          </a:prstGeom>
          <a:solidFill>
            <a:srgbClr val="2A97DC"/>
          </a:solidFill>
          <a:ln>
            <a:solidFill>
              <a:srgbClr val="2A9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194560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66543"/>
            <a:ext cx="1965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Baselines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066543"/>
            <a:ext cx="800100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Implement persistence, centralized model and standard FedAvg.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6696" y="2551176"/>
            <a:ext cx="0" cy="237744"/>
          </a:xfrm>
          <a:prstGeom prst="line">
            <a:avLst/>
          </a:prstGeom>
          <a:ln w="1524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77240" y="2916935"/>
            <a:ext cx="438912" cy="438912"/>
          </a:xfrm>
          <a:prstGeom prst="ellipse">
            <a:avLst/>
          </a:prstGeom>
          <a:solidFill>
            <a:srgbClr val="1D8561"/>
          </a:solidFill>
          <a:ln>
            <a:solidFill>
              <a:srgbClr val="1D8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2999232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871215"/>
            <a:ext cx="1965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V2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871215"/>
            <a:ext cx="800100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Add event score, maximum update interval and hard byte-budget accounting.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6696" y="3355848"/>
            <a:ext cx="0" cy="237743"/>
          </a:xfrm>
          <a:prstGeom prst="line">
            <a:avLst/>
          </a:prstGeom>
          <a:ln w="1524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77240" y="3721607"/>
            <a:ext cx="438912" cy="438912"/>
          </a:xfrm>
          <a:prstGeom prst="ellipse">
            <a:avLst/>
          </a:prstGeom>
          <a:solidFill>
            <a:srgbClr val="C37E1A"/>
          </a:solidFill>
          <a:ln>
            <a:solidFill>
              <a:srgbClr val="C37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803903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675887"/>
            <a:ext cx="1965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Security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675887"/>
            <a:ext cx="800100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Add malformed/stale update rejection and update-norm clipping; test simulated attacks.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6696" y="4160520"/>
            <a:ext cx="0" cy="237744"/>
          </a:xfrm>
          <a:prstGeom prst="line">
            <a:avLst/>
          </a:prstGeom>
          <a:ln w="1524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77240" y="4526279"/>
            <a:ext cx="438912" cy="438912"/>
          </a:xfrm>
          <a:prstGeom prst="ellipse">
            <a:avLst/>
          </a:prstGeom>
          <a:solidFill>
            <a:srgbClr val="1C31E6"/>
          </a:solidFill>
          <a:ln>
            <a:solidFill>
              <a:srgbClr val="1C3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608575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480559"/>
            <a:ext cx="1965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480559"/>
            <a:ext cx="800100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Run IID/non-IID experiments with 3 seeds; report MAE/RMSE, bytes, convergence and runtime.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6696" y="4965192"/>
            <a:ext cx="0" cy="237744"/>
          </a:xfrm>
          <a:prstGeom prst="line">
            <a:avLst/>
          </a:prstGeom>
          <a:ln w="1524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77240" y="5330951"/>
            <a:ext cx="438912" cy="438912"/>
          </a:xfrm>
          <a:prstGeom prst="ellipse">
            <a:avLst/>
          </a:prstGeom>
          <a:solidFill>
            <a:srgbClr val="14235F"/>
          </a:solidFill>
          <a:ln>
            <a:solidFill>
              <a:srgbClr val="142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5413247"/>
            <a:ext cx="3840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285231"/>
            <a:ext cx="1965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5F"/>
                </a:solidFill>
                <a:latin typeface="Aptos"/>
              </a:rPr>
              <a:t>Final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285231"/>
            <a:ext cx="800100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8"/>
                </a:solidFill>
                <a:latin typeface="Aptos"/>
              </a:rPr>
              <a:t>Prepare reproducible code, figures, methodology and limitations.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6172200"/>
            <a:ext cx="10789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579"/>
                </a:solidFill>
                <a:latin typeface="Aptos"/>
              </a:rPr>
              <a:t>Milestones are implementation steps; timing depends on dataset access and available development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8240" y="109728"/>
            <a:ext cx="2971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31E6"/>
                </a:solidFill>
                <a:latin typeface="Aptos"/>
              </a:rPr>
              <a:t>AIORI 3   |  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1109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31E6"/>
                </a:solidFill>
                <a:latin typeface="Aptos"/>
              </a:rPr>
              <a:t>Bibliography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82528" cy="0"/>
          </a:xfrm>
          <a:prstGeom prst="line">
            <a:avLst/>
          </a:prstGeom>
          <a:ln w="10160">
            <a:solidFill>
              <a:srgbClr val="D2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65392"/>
            <a:ext cx="89611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A3-PS003-TC01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4</a:t>
            </a:r>
            <a:r>
              <a:rPr sz="800" b="0" i="0" dirty="0">
                <a:solidFill>
                  <a:srgbClr val="1C31E6"/>
                </a:solidFill>
                <a:latin typeface="Aptos"/>
              </a:rPr>
              <a:t>  •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C31E6"/>
                </a:solidFill>
                <a:latin typeface="Aptos"/>
              </a:rPr>
              <a:t>10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10835640" cy="749808"/>
          </a:xfrm>
          <a:prstGeom prst="rect">
            <a:avLst/>
          </a:prstGeom>
          <a:solidFill>
            <a:srgbClr val="F4F7FC"/>
          </a:solidFill>
          <a:ln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bIns="36576" rtlCol="0" anchor="ctr"/>
          <a:lstStyle/>
          <a:p>
            <a:pPr>
              <a:spcAft>
                <a:spcPts val="0"/>
              </a:spcAft>
            </a:pPr>
            <a:r>
              <a:rPr sz="1400" dirty="0">
                <a:solidFill>
                  <a:srgbClr val="232A38"/>
                </a:solidFill>
                <a:latin typeface="Aptos"/>
              </a:rPr>
              <a:t>[1] H. B. McMahan et al. “Communication-Efficient Learning of Deep Networks from Decentralized Data.” AISTATS, 2017.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1C31E6"/>
                </a:solidFill>
                <a:latin typeface="Aptos"/>
                <a:hlinkClick r:id="rId2"/>
              </a:rPr>
              <a:t>https://proceedings.mlr.press/v54/mcmahan17a.html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31136"/>
            <a:ext cx="108356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bIns="36576" rtlCol="0" anchor="ctr"/>
          <a:lstStyle/>
          <a:p>
            <a:pPr>
              <a:spcAft>
                <a:spcPts val="0"/>
              </a:spcAft>
            </a:pPr>
            <a:r>
              <a:rPr sz="1400" dirty="0">
                <a:solidFill>
                  <a:srgbClr val="232A38"/>
                </a:solidFill>
                <a:latin typeface="Aptos"/>
              </a:rPr>
              <a:t>[2] Z. Zhao et al. “Towards Efficient Communications in Federated Learning: A Contemporary Survey.” Journal of the Franklin Institute, 2023.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1C31E6"/>
                </a:solidFill>
                <a:latin typeface="Aptos"/>
                <a:hlinkClick r:id="rId3"/>
              </a:rPr>
              <a:t>https://www.sciencedirect.com/science/article/pii/S0016003222009346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163824"/>
            <a:ext cx="10835640" cy="749808"/>
          </a:xfrm>
          <a:prstGeom prst="rect">
            <a:avLst/>
          </a:prstGeom>
          <a:solidFill>
            <a:srgbClr val="F4F7FC"/>
          </a:solidFill>
          <a:ln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bIns="36576" rtlCol="0" anchor="ctr"/>
          <a:lstStyle/>
          <a:p>
            <a:pPr>
              <a:spcAft>
                <a:spcPts val="0"/>
              </a:spcAft>
            </a:pPr>
            <a:r>
              <a:rPr sz="1400" dirty="0">
                <a:solidFill>
                  <a:srgbClr val="232A38"/>
                </a:solidFill>
                <a:latin typeface="Aptos"/>
              </a:rPr>
              <a:t>[3] “Communication-Efficient Personalized Federated Learning for Traffic Flow Prediction.” IEEE conference publication, 2024. DOI / record: 10.1109/ICCC62609.2024.10942186.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1C31E6"/>
                </a:solidFill>
                <a:latin typeface="Aptos"/>
                <a:hlinkClick r:id="rId4"/>
              </a:rPr>
              <a:t>https://ieeexplore.ieee.org/abstract/document/10942186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96512"/>
            <a:ext cx="108356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bIns="36576" rtlCol="0" anchor="ctr"/>
          <a:lstStyle/>
          <a:p>
            <a:pPr>
              <a:spcAft>
                <a:spcPts val="0"/>
              </a:spcAft>
            </a:pPr>
            <a:r>
              <a:rPr sz="1400" dirty="0">
                <a:solidFill>
                  <a:srgbClr val="232A38"/>
                </a:solidFill>
                <a:latin typeface="Aptos"/>
              </a:rPr>
              <a:t>[4] California Department of Transportation (Caltrans). “Performance Measurement System (</a:t>
            </a:r>
            <a:r>
              <a:rPr sz="1400" dirty="0" err="1">
                <a:solidFill>
                  <a:srgbClr val="232A38"/>
                </a:solidFill>
                <a:latin typeface="Aptos"/>
              </a:rPr>
              <a:t>PeMS</a:t>
            </a:r>
            <a:r>
              <a:rPr sz="1400" dirty="0">
                <a:solidFill>
                  <a:srgbClr val="232A38"/>
                </a:solidFill>
                <a:latin typeface="Aptos"/>
              </a:rPr>
              <a:t>).”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1C31E6"/>
                </a:solidFill>
                <a:latin typeface="Aptos"/>
                <a:hlinkClick r:id="rId5"/>
              </a:rPr>
              <a:t>https://dot.ca.gov/programs/traffic-operations/mpr/pems-source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29200"/>
            <a:ext cx="10835640" cy="749808"/>
          </a:xfrm>
          <a:prstGeom prst="rect">
            <a:avLst/>
          </a:prstGeom>
          <a:solidFill>
            <a:srgbClr val="F4F7FC"/>
          </a:solidFill>
          <a:ln>
            <a:solidFill>
              <a:srgbClr val="D2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bIns="36576" rtlCol="0" anchor="ctr"/>
          <a:lstStyle/>
          <a:p>
            <a:pPr>
              <a:spcAft>
                <a:spcPts val="0"/>
              </a:spcAft>
            </a:pPr>
            <a:r>
              <a:rPr sz="1400" dirty="0">
                <a:solidFill>
                  <a:srgbClr val="232A38"/>
                </a:solidFill>
                <a:latin typeface="Aptos"/>
              </a:rPr>
              <a:t>[5] “A Survey on Traffic Prediction: Methods, Applications, and Future Directions.” ACM Computing Surveys.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1C31E6"/>
                </a:solidFill>
                <a:latin typeface="Aptos"/>
                <a:hlinkClick r:id="rId6"/>
              </a:rPr>
              <a:t>https://doi.org/10.1145/3703447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50992" y="1097280"/>
            <a:ext cx="868680" cy="868680"/>
          </a:xfrm>
          <a:prstGeom prst="ellipse">
            <a:avLst/>
          </a:prstGeom>
          <a:solidFill>
            <a:srgbClr val="14235F"/>
          </a:solidFill>
          <a:ln>
            <a:solidFill>
              <a:srgbClr val="142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5000" y="1362456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AIORI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1C31E6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73552"/>
            <a:ext cx="103327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0">
                <a:solidFill>
                  <a:srgbClr val="232A38"/>
                </a:solidFill>
                <a:latin typeface="Aptos"/>
              </a:rPr>
              <a:t>Questions &amp; Discussion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4069080"/>
            <a:ext cx="4325111" cy="0"/>
          </a:xfrm>
          <a:prstGeom prst="line">
            <a:avLst/>
          </a:prstGeom>
          <a:ln w="31750">
            <a:solidFill>
              <a:srgbClr val="1C3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416552"/>
            <a:ext cx="10332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5B6579"/>
                </a:solidFill>
                <a:latin typeface="Aptos"/>
              </a:rPr>
              <a:t>Our question: Can traffic-aware, budget-constrained federated learning improve the accuracy–communication trade-off while rejecting simple unsafe updates?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685800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1C31E6"/>
                </a:solidFill>
                <a:latin typeface="Aptos"/>
              </a:rPr>
              <a:t>AIORI Hackathon 3  •  A3-PS003-TC01</a:t>
            </a:r>
            <a:r>
              <a:rPr lang="en-IN" sz="800" b="0" i="0" dirty="0">
                <a:solidFill>
                  <a:srgbClr val="1C31E6"/>
                </a:solidFill>
                <a:latin typeface="Aptos"/>
              </a:rPr>
              <a:t>4</a:t>
            </a:r>
            <a:endParaRPr sz="800" b="0" i="0" dirty="0">
              <a:solidFill>
                <a:srgbClr val="1C31E6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1474</Words>
  <Application>Microsoft Office PowerPoint</Application>
  <PresentationFormat>Widescreen</PresentationFormat>
  <Paragraphs>182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Zoro SK</cp:lastModifiedBy>
  <cp:revision>4</cp:revision>
  <dcterms:created xsi:type="dcterms:W3CDTF">2013-01-27T09:14:16Z</dcterms:created>
  <dcterms:modified xsi:type="dcterms:W3CDTF">2026-10-13T06:32:10Z</dcterms:modified>
  <cp:category/>
</cp:coreProperties>
</file>